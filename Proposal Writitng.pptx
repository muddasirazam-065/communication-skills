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B6D4"/>
    <a:srgbClr val="BEF264"/>
    <a:srgbClr val="FF0000"/>
    <a:srgbClr val="F43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422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743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1 (Student 1 | ~3 min)
Welcome everyone and introduce the group.
"Today we are going to walk you through everything you need to know about proposal writing — not just the theory, but the practical skills you'll use in your professional life."
Mention the 1-hour structure: you will cover what proposals are, the types, a deep dive into business proposals, the writing process, key elements, dos &amp; don'ts, and finally how each section influences decision-makers.
State the main goal: "Our primary focus today is the Internal Business Proposal — a document written inside an organisation to pitch an idea, request resources, or propose a change."
Invite the class to ask questions at the end of each major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2 (Student 1 | ~2 min)
Briefly walk through the agenda so students know what to expect.
"We have 8 sections. Each one builds on the previous. By the end, you'll know how to write, structure, and present a professional internal business proposal."
Mention that there is an activity later to keep things interactive.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3 (Student 1 | ~5 min)
Read out the definition. Emphasise the word "persuade" — a proposal is not just an information document, it is a persuasive tool.
Discuss the three pillars:
1. IDENTIFY A PROBLEM – Without a clear problem, there is nothing to propose. The problem must feel real and urgent.
2. PROPOSE A SOLUTION – The heart of every proposal. Must be specific, actionable and realistic.
3. PERSUADE &amp; JUSTIFY – Use facts, data and logic. Avoid emotional appeals without evidence.
Real-life example to share: "Imagine you work in IT at a company. You notice the office internet is too slow and it is hurting productivity. You write a proposal to management to upgrade the network — that is proposal writing in action."
Ask class: "Can anyone give another example of when you might write a proposal at work?" (Wait for 2–3 answers).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4 (Student 1 | ~5 min)
Briefly introduce all 6 types. Students don't need deep knowledge of all — this is context-setting.
Emphasise that "Business Proposal" is the one they will learn in depth today.
Quick analogy: "A research proposal is like asking your professor 'Can I study this topic?' A business proposal is like asking your manager 'Can we solve this problem?' — similar structure, very different context."
QUICK POLL (30 seconds): Show of hands — "Who has written any kind of proposal before?" This warms up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5 (Student 2 | ~6 min)
This is a handover to Student 2.
KEY MESSAGE: The audience of the proposal completely changes how you write it.
- For internal: You already know the organisation's culture and goals. You use shared language. You don't need to "sell" your organisation — you need to sell your IDEA.
- For external: The reader may know nothing about your company. You must build trust, show credentials, and focus on the CLIENT's needs.
Ask the class: "If you were writing an internal proposal to buy new computers for your department, what information would your manager want to see?"
Expected answers: cost, why current ones are insufficient, ROI, timeline.
Transition: "For the rest of today, we will focus entirely on the internal business proposal — the kind you are most likely to write early in your careers."
OUR MAIN GOAL = INTERNAL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6 (Student 2 | ~5 min)
Walk through each type briefly.
Use relatable examples:
- "Budget Request: Imagine your marketing team wants to run a social media campaign but has no budget approved — they'd write a budget proposal."
- "Process Improvement: Suppose the current HR onboarding takes 3 weeks — someone proposes to cut it to 1 week using automation."
- "Training: Your team lacks data analysis skills — you propose a 2-day Excel training."
ENGAGEMENT TIP: Ask students to pick the type they think they'd write first in their career. Quick show of hands or verbal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7 (Student 2 | ~7 min)
Walk through each step. Use a story-telling approach — frame it like a journey.
Step 1: "Before you write a single word, you must understand the problem deeply. Many proposals fail because they solve the wrong problem."
Step 2: "Your manager cares about different things than your CEO. A department head might care about efficiency. The finance director cares about cost. Always write for YOUR specific reader."
Step 3: "Don't just propose the first solution you think of. Explore 2–3 options and choose the best — and be ready to explain why."
Steps 4–5: "Structure first, words second. An outline stops you going off-topic."
Step 6: "A proposal without evidence is just an opinion. Back every claim with data."
Step 7: "Never submit a first draft. Always re-read — ideally the next morning."
Step 8: "Submit through the right channel. In many organisations you need to present the proposal verbally as well."
Transition: "Now let's look at what GOES inside the proposal — the key sections and elements."
TIME CHECK: Should be approximately 25 minutes into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8 (Student 3 | ~8 min)
This is the handover to Student 3.
Go through each element. For each one, give 1 sentence of elaboration beyond the slide text.
EXECUTIVE SUMMARY: "Even though it appears first, write it LAST. It summarises the entire proposal. Many executives only read this page — make it count."
PROBLEM STATEMENT: "Be specific. Don't say 'productivity is low.' Say 'Our team processes 40% fewer customer requests per day than the industry benchmark, costing us approximately £12,000 per month in delayed revenue.'"
PROPOSED SOLUTION: "Avoid vague language. Not 'we will improve the system' but 'we will implement X software by Q2, reducing processing time by 50%.'"
BUDGET: "Managers distrust vague budgets. Break everything down. Include hidden costs like training and maintenance."
CONCLUSION / CALL TO ACTION: "End with a clear ask. 'We request approval of this proposal by [date] so that Phase 1 can begin on [date].'"
INTERACTIVE MOMENT: Ask 3 students to each read one element aloud and explain it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10 (Student 4 | ~7 min)
Handover to Student 4.
Emphasise these critical points:
DO — "Data and evidence are non-negotiable. You will not get approval based on gut feeling alone."
DO — "Tailoring is everything. A one-size-fits-all proposal reads as lazy and gets rejected."
DON'T — "Vague language kills proposals. 'We will try to improve productivity' gives management nothing to hold you accountable to."
DON'T — "Never inflate benefits to make the proposal look better. If management approves it and the results don't match, your credibility is damaged."
DON'T — "Forgetting the call to action is like making a great sales pitch and then not asking for the order."
ACTIVITY (2 min): Show one "bad example" sentence and one "good example" sentence. Ask students which is better and why.
Bad: "This new system should improve things and make work easier for everyone."
Good: "Implementing this system is projected to reduce task completion time by 35%, saving approximately 12 staff hours per week."
Ask for a volunteer to "fix" a bad sentence on the spot — makes it memorable and fun.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11 (Student 4 leads | ~12 min total)
This is the main engagement activity. Give very clear instructions verbally before starting.
Timer: Set a visible timer for 8 minutes.
Walk around the room during the activity to help groups who are stuck.
Prompt struggling groups: "What is the specific problem? Can you put a number on it? What does the manager need to know?"
After presentations:
- Give positive feedback on at least one specific thing from each group.
- Gently correct anything that lacks evidence or specificity.
- Common mistake: Students write solutions without explaining WHY the problem matters — address this.
This activity accounts for roughly 12 minutes of the session. Adjust based on class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13 (Student 5 | ~4 min)
Read through the takeaways — but don't just read. Add a brief comment on each.
Point 1: "This is the single most important principle. A common beginner mistake is writing what YOU want to say, not what the READER needs to hear."
Point 6: "Research on proposal reading patterns shows senior managers spend most time on these three sections. If you nail those, your proposal succeeds even if the rest is imperfect."
Point 7: "Professional tip — always ask someone who has NOT worked on the proposal to read it. Fresh eyes catch what yours cannot."
ENGAGEMENT: Ask: "What is the ONE thing from today you'll definitely apply when you write your first real proposal?"
Take 2–3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14 (All students | ~5 min)
Close warmly and invite questions.
"Thank you for being such an engaged class. We hope this session has made proposal writing feel less intimidating and more like a skill you can develop and master."
Open Q&amp;A:
Possible student questions and suggested answers:
Q: "How long should a proposal be?"
A: "As long as it needs to be — no longer. A good internal proposal is typically 3–8 pages. An external/grant proposal can be 20+ pages. Clarity beats length."
Q: "What if my manager rejects my proposal?"
A: "Ask for feedback. Find out which section was weak. Revise and resubmit. Most successful proposals go through at least 2 drafts."
Q: "Is there a universal template?"
A: "There are common structures, but always customise. Your organisation may have its own format — use it."
TIME CHECK: This slide should be reached at approximately 58–60 minutes. If short on time, skip individual Q&amp;A and take one group question.
FINAL NOTE: Remind students to refer back to the slides when writing their first real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43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538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40880" y="365760"/>
            <a:ext cx="164592" cy="164592"/>
          </a:xfrm>
          <a:prstGeom prst="ellipse">
            <a:avLst/>
          </a:prstGeom>
          <a:solidFill>
            <a:srgbClr val="C9922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60920" y="731520"/>
            <a:ext cx="164592" cy="164592"/>
          </a:xfrm>
          <a:prstGeom prst="ellipse">
            <a:avLst/>
          </a:prstGeom>
          <a:solidFill>
            <a:srgbClr val="C9922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0" y="1097280"/>
            <a:ext cx="164592" cy="164592"/>
          </a:xfrm>
          <a:prstGeom prst="ellipse">
            <a:avLst/>
          </a:prstGeom>
          <a:solidFill>
            <a:srgbClr val="C9922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01000" y="1463040"/>
            <a:ext cx="164592" cy="164592"/>
          </a:xfrm>
          <a:prstGeom prst="ellipse">
            <a:avLst/>
          </a:prstGeom>
          <a:solidFill>
            <a:srgbClr val="C9922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321040" y="1828800"/>
            <a:ext cx="164592" cy="164592"/>
          </a:xfrm>
          <a:prstGeom prst="ellipse">
            <a:avLst/>
          </a:prstGeom>
          <a:solidFill>
            <a:srgbClr val="C9922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188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WRITING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9436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Group 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TODAY'S AGENDA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9326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is Proposal Writing?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6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Definition &amp; purpose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41148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18745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19385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Types of Proposals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2304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6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Research, grant, business &amp; more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41148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" y="288036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29443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Proposals – Deep Dive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3310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6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Internal vs external, types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38862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3886200"/>
            <a:ext cx="411480" cy="8229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0040" y="388620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39502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to Write a Business Proposal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4315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6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Step-by-step process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09160" y="8686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09160" y="868680"/>
            <a:ext cx="411480" cy="82296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09160" y="86868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12080" y="9326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Elements &amp; Structure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1208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6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every section must include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09160" y="18745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09160" y="1874520"/>
            <a:ext cx="411480" cy="82296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09160" y="187452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12080" y="19385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Dos and Don'ts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212080" y="2304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6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Common mistakes &amp; best practices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709160" y="288036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709160" y="2880360"/>
            <a:ext cx="411480" cy="82296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709160" y="288036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12080" y="29443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Influencing Decision-Makers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212080" y="3310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6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 of each section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709160" y="38862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709160" y="3886200"/>
            <a:ext cx="411480" cy="82296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09160" y="388620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212080" y="39502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212080" y="4315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6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Summary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6172200" y="1984248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IS PROPOSAL WRITING?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765286"/>
            <a:ext cx="8503920" cy="1052001"/>
          </a:xfrm>
          <a:prstGeom prst="rect">
            <a:avLst/>
          </a:prstGeom>
          <a:solidFill>
            <a:srgbClr val="1C2B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765286"/>
            <a:ext cx="73152" cy="1052001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902887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proposal is a formal written document that presents an idea, solution, or plan to persuade a reader ,decision-maker, stakeholder, or client  to approve, fund, or act upon it.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2743200" cy="64008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2816627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Identify a Problem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Clearly states an existing challenge or need that demands attention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46120" y="192024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46120" y="1920240"/>
            <a:ext cx="2743200" cy="64008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46120" y="2816627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 a 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83280" y="31546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Offers a concrete, well reasoned answer to address the problem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72200" y="1920240"/>
            <a:ext cx="2743200" cy="64008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72200" y="2816627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Persuade &amp; Justify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9360" y="31546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evidence, cost benefit analysis and logic to earn approval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Graphic 22" descr="Question Mark with solid fill">
            <a:extLst>
              <a:ext uri="{FF2B5EF4-FFF2-40B4-BE49-F238E27FC236}">
                <a16:creationId xmlns:a16="http://schemas.microsoft.com/office/drawing/2014/main" id="{1B973EC3-BFF5-CBFE-8419-C9160C3ECB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106" y="2029417"/>
            <a:ext cx="836731" cy="836731"/>
          </a:xfrm>
          <a:prstGeom prst="rect">
            <a:avLst/>
          </a:prstGeom>
        </p:spPr>
      </p:pic>
      <p:pic>
        <p:nvPicPr>
          <p:cNvPr id="25" name="Graphic 24" descr="Checkbox Checked with solid fill">
            <a:extLst>
              <a:ext uri="{FF2B5EF4-FFF2-40B4-BE49-F238E27FC236}">
                <a16:creationId xmlns:a16="http://schemas.microsoft.com/office/drawing/2014/main" id="{453144D3-A2D4-A946-614D-3A7DCEFE99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0352" y="1951748"/>
            <a:ext cx="914400" cy="914400"/>
          </a:xfrm>
          <a:prstGeom prst="rect">
            <a:avLst/>
          </a:prstGeom>
        </p:spPr>
      </p:pic>
      <p:pic>
        <p:nvPicPr>
          <p:cNvPr id="29" name="Graphic 28" descr="Presentation with org chart outline">
            <a:extLst>
              <a:ext uri="{FF2B5EF4-FFF2-40B4-BE49-F238E27FC236}">
                <a16:creationId xmlns:a16="http://schemas.microsoft.com/office/drawing/2014/main" id="{838CEA5B-3BC9-1BE2-35B3-9EF6F2667C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6432" y="1969761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TYPES OF PROPOSALS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6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Proposals exist across many fields. Here are the main categories: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73152" cy="105156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6567"/>
            <a:ext cx="1968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Proposal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8912" y="1570785"/>
            <a:ext cx="39368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 solution to meet business need.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73152" cy="1051560"/>
          </a:xfrm>
          <a:prstGeom prst="rect">
            <a:avLst/>
          </a:prstGeom>
          <a:solidFill>
            <a:srgbClr val="2D5F8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2472" y="1182220"/>
            <a:ext cx="187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5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Proposal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3752" y="151201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Seek approval and funding for research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468880"/>
            <a:ext cx="73152" cy="1051560"/>
          </a:xfrm>
          <a:prstGeom prst="rect">
            <a:avLst/>
          </a:prstGeom>
          <a:solidFill>
            <a:srgbClr val="3B7A57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7632" y="2416660"/>
            <a:ext cx="187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B7A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Grant Proposal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8912" y="2833318"/>
            <a:ext cx="4133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 financial from funders.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73152" cy="1051560"/>
          </a:xfrm>
          <a:prstGeom prst="rect">
            <a:avLst/>
          </a:prstGeom>
          <a:solidFill>
            <a:srgbClr val="7B4F9E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32472" y="2416660"/>
            <a:ext cx="187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B4F9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Proposal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73752" y="2833318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Outline scope, timeline and resources for a new project.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73152" cy="105156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7632" y="3651100"/>
            <a:ext cx="187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92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Sales Proposal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38912" y="406775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Persuade a customer to sign a contract or close a deal.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73152" cy="10515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32472" y="3651100"/>
            <a:ext cx="187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Budget Proposal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73752" y="406775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Request approval for a spacific budget.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PROPOSALS: INTERNAL vs EXTERNAL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069080" cy="4160520"/>
          </a:xfrm>
          <a:prstGeom prst="rect">
            <a:avLst/>
          </a:prstGeom>
          <a:solidFill>
            <a:srgbClr val="1C2B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069080" cy="45720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79552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INTERNAL PROPOSAL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92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Written WITHIN the organisation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92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Author: Employee / department head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43230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92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Reader: Management / executives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92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Goal: Ask for approval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350468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92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Tone: Professional but familiar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07822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92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Examples: Asking for more new equipment's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0" y="777240"/>
            <a:ext cx="406908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54880" y="777240"/>
            <a:ext cx="4069080" cy="457200"/>
          </a:xfrm>
          <a:prstGeom prst="rect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79552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EXTERNAL PROPOSAL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92040" y="133502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</a:t>
            </a: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Sent OUTSIDE the organisation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92040" y="188366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</a:t>
            </a: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Author: Sales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92040" y="243230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</a:t>
            </a: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Reader: Potential client / partner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92040" y="298094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</a:t>
            </a: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Goal: Win a contract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92040" y="34564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</a:t>
            </a: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Tone: Formal and sales-oriented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92040" y="407822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 </a:t>
            </a: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Examples: Website development for client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TYPES OF INTERNAL BUSINESS PROPOSALS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54864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65176" y="937976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Technology / IT Upgrade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8892" y="1601632"/>
            <a:ext cx="2761488" cy="783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for new software or system.</a:t>
            </a:r>
          </a:p>
        </p:txBody>
      </p:sp>
      <p:sp>
        <p:nvSpPr>
          <p:cNvPr id="9" name="Shape 7"/>
          <p:cNvSpPr/>
          <p:nvPr/>
        </p:nvSpPr>
        <p:spPr>
          <a:xfrm>
            <a:off x="3218688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18688" y="822960"/>
            <a:ext cx="2743200" cy="54864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73552" y="9379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Staffing &amp; Hiring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18688" y="1732830"/>
            <a:ext cx="2788920" cy="514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for new employee or role.</a:t>
            </a:r>
          </a:p>
        </p:txBody>
      </p:sp>
      <p:sp>
        <p:nvSpPr>
          <p:cNvPr id="14" name="Shape 12"/>
          <p:cNvSpPr/>
          <p:nvPr/>
        </p:nvSpPr>
        <p:spPr>
          <a:xfrm>
            <a:off x="6135624" y="774113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63056" y="822960"/>
            <a:ext cx="2743200" cy="54864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0" y="9379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Budget Request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63056" y="1695716"/>
            <a:ext cx="2752344" cy="600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Asking for additional funds</a:t>
            </a:r>
          </a:p>
        </p:txBody>
      </p:sp>
      <p:sp>
        <p:nvSpPr>
          <p:cNvPr id="24" name="Shape 22"/>
          <p:cNvSpPr/>
          <p:nvPr/>
        </p:nvSpPr>
        <p:spPr>
          <a:xfrm>
            <a:off x="1892808" y="2913955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892808" y="2913955"/>
            <a:ext cx="2743200" cy="54864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947672" y="3028971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New Project / Initiative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892808" y="3682984"/>
            <a:ext cx="2743200" cy="60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Proposal for new project or service.</a:t>
            </a:r>
          </a:p>
        </p:txBody>
      </p:sp>
      <p:sp>
        <p:nvSpPr>
          <p:cNvPr id="29" name="Shape 27"/>
          <p:cNvSpPr/>
          <p:nvPr/>
        </p:nvSpPr>
        <p:spPr>
          <a:xfrm>
            <a:off x="4846320" y="2935224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37176" y="2913955"/>
            <a:ext cx="2743200" cy="54864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92040" y="3028971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&amp; Development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92040" y="3693497"/>
            <a:ext cx="2724912" cy="573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for employee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PROPOSAL WRITING PROCESS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02920" cy="9144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7315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Identify the Problem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09728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and clearly define the problem. Understand the impact.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1188720"/>
            <a:ext cx="365760" cy="91440"/>
          </a:xfrm>
          <a:prstGeom prst="rect">
            <a:avLst/>
          </a:prstGeom>
          <a:solidFill>
            <a:srgbClr val="8A96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502920" cy="9144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0" y="7772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49240" y="786825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Know Your Audience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49240" y="1142311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Who approves this? What concerns them? Budget? Risk? Efficiency?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182880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1828800"/>
            <a:ext cx="502920" cy="91440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18288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8680" y="18196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 Your 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" y="2219073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Brainstorm options. Choose the best one. Plan the implementation.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89120" y="2240280"/>
            <a:ext cx="365760" cy="91440"/>
          </a:xfrm>
          <a:prstGeom prst="rect">
            <a:avLst/>
          </a:prstGeom>
          <a:solidFill>
            <a:srgbClr val="8A96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182880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0" y="1828800"/>
            <a:ext cx="502920" cy="91440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54880" y="18288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49240" y="17876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Outline the Proposal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349240" y="2159967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 out sections. Ensure logical flow from problem to solution to action.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288036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880360"/>
            <a:ext cx="502920" cy="9144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74320" y="28803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68680" y="28630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Write the First Draft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68680" y="3220451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Write clearly and concisely. Use simple language. Avoid jargon.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89120" y="3291840"/>
            <a:ext cx="365760" cy="91440"/>
          </a:xfrm>
          <a:prstGeom prst="rect">
            <a:avLst/>
          </a:prstGeom>
          <a:solidFill>
            <a:srgbClr val="8A96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54880" y="288036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754880" y="2880360"/>
            <a:ext cx="502920" cy="9144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754880" y="28803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349240" y="28575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 Data &amp; Evidence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349240" y="3225629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Include research, statistics, case studies, cost estimates.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74320" y="39319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74320" y="3931920"/>
            <a:ext cx="502920" cy="91440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74320" y="39319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68680" y="393081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&amp; Edit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68680" y="429310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Proofread for grammar. Check facts. Get feedback from a colleague.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389120" y="4343400"/>
            <a:ext cx="365760" cy="91440"/>
          </a:xfrm>
          <a:prstGeom prst="rect">
            <a:avLst/>
          </a:prstGeom>
          <a:solidFill>
            <a:srgbClr val="8A96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754880" y="39319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754880" y="3931920"/>
            <a:ext cx="502920" cy="91440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754880" y="39319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349240" y="394563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Submit &amp; Follow Up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349240" y="431789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Submit formally. Be ready to answer questions and defend your proposal.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" y="-73152"/>
            <a:ext cx="9144000" cy="6858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92608" y="182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ELEMENTS OF A BUSINESS PROPOSAL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43200" cy="73152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10896" y="896112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10896" y="896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3232" y="8778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Title Page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10896" y="1180347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Proposal name, author, department, date, recipient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18688" y="804672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18688" y="804672"/>
            <a:ext cx="2743200" cy="73152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55264" y="896112"/>
            <a:ext cx="329184" cy="329184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55264" y="896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0" y="8778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Executive Summary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38552" y="1106424"/>
            <a:ext cx="27797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snapshot of the whole proposal the most read section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63056" y="804672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63056" y="804672"/>
            <a:ext cx="2743200" cy="73152"/>
          </a:xfrm>
          <a:prstGeom prst="rect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99632" y="896112"/>
            <a:ext cx="329184" cy="329184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99632" y="896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01968" y="8778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38192" y="1161288"/>
            <a:ext cx="27249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is the issue? Why does it matter? What happens if nothing is done?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2176272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2176272"/>
            <a:ext cx="2743200" cy="73152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10896" y="2267712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10896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3232" y="22494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 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47472" y="2588854"/>
            <a:ext cx="2724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Describe your solution clearly what, how, who, when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18688" y="2176272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18688" y="2176272"/>
            <a:ext cx="2743200" cy="73152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55264" y="2267712"/>
            <a:ext cx="329184" cy="329184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255264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657600" y="224942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Plan / Timeline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255264" y="2628900"/>
            <a:ext cx="2706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Milestones, responsibilities, Gantt chart or timeline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163056" y="2176272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63056" y="2176272"/>
            <a:ext cx="2743200" cy="73152"/>
          </a:xfrm>
          <a:prstGeom prst="rect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199632" y="2267712"/>
            <a:ext cx="329184" cy="329184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99632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601968" y="22494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Budget &amp; Resources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238192" y="2615184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Detailed cost breakdown staff, tools, time, overhead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74320" y="3547872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74320" y="3547872"/>
            <a:ext cx="2743200" cy="73152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10896" y="3639312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10896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13232" y="36210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Benefits &amp; ROI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01752" y="3758184"/>
            <a:ext cx="2852928" cy="124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does the organisation gain? Quantify savings, efficiency gains, risk reduction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218688" y="3547872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218688" y="3547872"/>
            <a:ext cx="2743200" cy="73152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255264" y="3639312"/>
            <a:ext cx="329184" cy="329184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3255264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3657600" y="3621024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264408" y="3851497"/>
            <a:ext cx="281635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Summarise the key points. Tell the reader exactly what you want them to do next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163056" y="3547872"/>
            <a:ext cx="27432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163056" y="3547872"/>
            <a:ext cx="2743200" cy="73152"/>
          </a:xfrm>
          <a:prstGeom prst="rect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199632" y="3639312"/>
            <a:ext cx="329184" cy="329184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199632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601968" y="36210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Appendices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238192" y="3968496"/>
            <a:ext cx="2642616" cy="784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Supporting data, references, technical specs, research sources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DOS AND DON'TS IN PROPOSAL WRITING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4114800" cy="502920"/>
          </a:xfrm>
          <a:prstGeom prst="rect">
            <a:avLst/>
          </a:prstGeom>
          <a:solidFill>
            <a:srgbClr val="2D7D52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7589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316736"/>
            <a:ext cx="4114800" cy="420624"/>
          </a:xfrm>
          <a:prstGeom prst="rect">
            <a:avLst/>
          </a:prstGeom>
          <a:solidFill>
            <a:srgbClr val="EBF5EB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16184" y="1344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7D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the problem thoroughly before writing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773936"/>
            <a:ext cx="4114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16184" y="1801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7D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clear, plain language avoid jargon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2231136"/>
            <a:ext cx="4114800" cy="420624"/>
          </a:xfrm>
          <a:prstGeom prst="rect">
            <a:avLst/>
          </a:prstGeom>
          <a:solidFill>
            <a:srgbClr val="EBF5EB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16184" y="2258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7D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Tailor the proposal to your specific audience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688336"/>
            <a:ext cx="4114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6184" y="2715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7D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 every claim with data or evidence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3145536"/>
            <a:ext cx="4114800" cy="420624"/>
          </a:xfrm>
          <a:prstGeom prst="rect">
            <a:avLst/>
          </a:prstGeom>
          <a:solidFill>
            <a:srgbClr val="EBF5EB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6184" y="3172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7D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Keep it concise quality over quantity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3602736"/>
            <a:ext cx="4114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16184" y="3630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7D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headings and visuals for easy scanning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4059936"/>
            <a:ext cx="4114800" cy="420624"/>
          </a:xfrm>
          <a:prstGeom prst="rect">
            <a:avLst/>
          </a:prstGeom>
          <a:solidFill>
            <a:srgbClr val="EBF5EB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16184" y="4087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7D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Write the executive summary last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4517136"/>
            <a:ext cx="4114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16184" y="4544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7D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Proofread multiple times before submitting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0" y="758952"/>
            <a:ext cx="4114800" cy="5029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54880" y="7589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DON'T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1316736"/>
            <a:ext cx="4114800" cy="420624"/>
          </a:xfrm>
          <a:prstGeom prst="rect">
            <a:avLst/>
          </a:prstGeom>
          <a:solidFill>
            <a:srgbClr val="FAEAEA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96744" y="13441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vague language like 'we will try' or 'maybe'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54880" y="1773936"/>
            <a:ext cx="4114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96744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Exaggerate benefits or underestimate costs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54880" y="2231136"/>
            <a:ext cx="4114800" cy="420624"/>
          </a:xfrm>
          <a:prstGeom prst="rect">
            <a:avLst/>
          </a:prstGeom>
          <a:solidFill>
            <a:srgbClr val="FAEAEA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96744" y="2258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Write for yourself always write for the reader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54880" y="2688336"/>
            <a:ext cx="4114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96744" y="2715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Submit without proofreading for errors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54880" y="3145536"/>
            <a:ext cx="4114800" cy="420624"/>
          </a:xfrm>
          <a:prstGeom prst="rect">
            <a:avLst/>
          </a:prstGeom>
          <a:solidFill>
            <a:srgbClr val="FAEAEA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96744" y="3172968"/>
            <a:ext cx="419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Include irrelevant information to bulk up the document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754880" y="3602736"/>
            <a:ext cx="4114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796744" y="3630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a template without customising it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754880" y="4059936"/>
            <a:ext cx="4114800" cy="420624"/>
          </a:xfrm>
          <a:prstGeom prst="rect">
            <a:avLst/>
          </a:prstGeom>
          <a:solidFill>
            <a:srgbClr val="FAEAEA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96744" y="4087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Forget to include a clear call to action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754880" y="4517136"/>
            <a:ext cx="411480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796744" y="4544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Send without getting a peer review first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2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ACTIVITY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Write a Mini Internal Proposal Outline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8046720" cy="45720"/>
          </a:xfrm>
          <a:prstGeom prst="rect">
            <a:avLst/>
          </a:prstGeom>
          <a:solidFill>
            <a:srgbClr val="C9922A">
              <a:alpha val="50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7472" cy="347472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347472" cy="347472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5840" y="177525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Choose ONE scenario from the list below: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347472" cy="347472"/>
          </a:xfrm>
          <a:prstGeom prst="ellipse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C2B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5840" y="244469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Write a bullet-point outline covering: Problem, Solution, Plan, Budget (rough), and Call to 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05840" y="30678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group member presents the outline to the class (2 min per group)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4315968"/>
            <a:ext cx="8046720" cy="45720"/>
          </a:xfrm>
          <a:prstGeom prst="rect">
            <a:avLst/>
          </a:prstGeom>
          <a:solidFill>
            <a:srgbClr val="C9922A">
              <a:alpha val="50000"/>
            </a:srgb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3700731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E8B8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Scenarios: A) New laptop upgrade for team  B) Hire one more staff member  C) Launch internal monthly newsletter  D) Move to 4-day work week pilot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95528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59" y="874519"/>
            <a:ext cx="45719" cy="310896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19" y="837943"/>
            <a:ext cx="82775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proposal is a persuasive document always write for your reader, not for yourself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399032"/>
            <a:ext cx="8595360" cy="530352"/>
          </a:xfrm>
          <a:prstGeom prst="rect">
            <a:avLst/>
          </a:prstGeom>
          <a:solidFill>
            <a:srgbClr val="EB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59" y="1478023"/>
            <a:ext cx="45719" cy="310896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19" y="1441447"/>
            <a:ext cx="82775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Internal proposals are the most common type in professional life master this first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002536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59" y="2081527"/>
            <a:ext cx="45719" cy="310896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19" y="2044951"/>
            <a:ext cx="82775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Start with a clear, specific problem vague problems produce vague proposals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2606040"/>
            <a:ext cx="8595360" cy="530352"/>
          </a:xfrm>
          <a:prstGeom prst="rect">
            <a:avLst/>
          </a:prstGeom>
          <a:solidFill>
            <a:srgbClr val="EB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59" y="2685031"/>
            <a:ext cx="45719" cy="310896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19" y="2648455"/>
            <a:ext cx="82775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claim needs evidence data, statistics, and cost-benefit analysis are essential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3209544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59" y="3288535"/>
            <a:ext cx="45719" cy="310896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19" y="3251959"/>
            <a:ext cx="82775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Follow the structure: Title → Executive Summary → Problem → Solution → Plan → Budget → CTA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3813048"/>
            <a:ext cx="8595360" cy="530352"/>
          </a:xfrm>
          <a:prstGeom prst="rect">
            <a:avLst/>
          </a:prstGeom>
          <a:solidFill>
            <a:srgbClr val="EBF1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65759" y="3892039"/>
            <a:ext cx="45719" cy="310896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2919" y="3855463"/>
            <a:ext cx="82775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Executive Summary, Budget and Conclusion are the three most-read sections perfect them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4416552"/>
            <a:ext cx="859536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59" y="4495543"/>
            <a:ext cx="45719" cy="310896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02919" y="4458967"/>
            <a:ext cx="82775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0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Always proofread, get feedback, and tailor your proposal before submission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43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2538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5029200" cy="54864"/>
          </a:xfrm>
          <a:prstGeom prst="rect">
            <a:avLst/>
          </a:prstGeom>
          <a:solidFill>
            <a:srgbClr val="C9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well-written proposal is not just a document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bridge between your idea and its approval."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42062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Group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3105</Words>
  <Application>Microsoft Office PowerPoint</Application>
  <PresentationFormat>On-screen Show (16:9)</PresentationFormat>
  <Paragraphs>193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Writing</dc:title>
  <dc:subject>PptxGenJS Presentation</dc:subject>
  <dc:creator>PptxGenJS</dc:creator>
  <cp:lastModifiedBy>01-134242-065</cp:lastModifiedBy>
  <cp:revision>10</cp:revision>
  <dcterms:created xsi:type="dcterms:W3CDTF">2026-05-06T00:50:36Z</dcterms:created>
  <dcterms:modified xsi:type="dcterms:W3CDTF">2026-05-11T14:55:08Z</dcterms:modified>
</cp:coreProperties>
</file>